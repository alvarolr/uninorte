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y="6858000" cx="12192000"/>
  <p:notesSz cx="6858000" cy="9144000"/>
  <p:embeddedFontLst>
    <p:embeddedFont>
      <p:font typeface="Krona One"/>
      <p:regular r:id="rId92"/>
    </p:embeddedFont>
    <p:embeddedFont>
      <p:font typeface="Play"/>
      <p:regular r:id="rId93"/>
      <p:bold r:id="rId94"/>
    </p:embeddedFont>
    <p:embeddedFont>
      <p:font typeface="Roboto"/>
      <p:regular r:id="rId95"/>
      <p:bold r:id="rId96"/>
      <p:italic r:id="rId97"/>
      <p:boldItalic r:id="rId98"/>
    </p:embeddedFont>
    <p:embeddedFont>
      <p:font typeface="Arimo"/>
      <p:regular r:id="rId99"/>
      <p:bold r:id="rId100"/>
      <p:italic r:id="rId101"/>
      <p:boldItalic r:id="rId102"/>
    </p:embeddedFont>
    <p:embeddedFont>
      <p:font typeface="Roboto Mono"/>
      <p:regular r:id="rId103"/>
      <p:bold r:id="rId104"/>
      <p:italic r:id="rId105"/>
      <p:boldItalic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976">
          <p15:clr>
            <a:srgbClr val="A4A3A4"/>
          </p15:clr>
        </p15:guide>
      </p15:sldGuideLst>
    </p:ext>
    <p:ext uri="GoogleSlidesCustomDataVersion2">
      <go:slidesCustomData xmlns:go="http://customooxmlschemas.google.com/" r:id="rId107" roundtripDataSignature="AMtx7mg28i7Pjp8ZA8kWsDl8n9HSZjsu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A311B5-7495-4F01-9BBB-8F1CF0B295EE}">
  <a:tblStyle styleId="{7DA311B5-7495-4F01-9BBB-8F1CF0B295E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3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  <a:tblStyle styleId="{CB715D71-7EE3-4594-A860-AA387547A82B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6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9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customschemas.google.com/relationships/presentationmetadata" Target="metadata"/><Relationship Id="rId106" Type="http://schemas.openxmlformats.org/officeDocument/2006/relationships/font" Target="fonts/RobotoMono-boldItalic.fntdata"/><Relationship Id="rId105" Type="http://schemas.openxmlformats.org/officeDocument/2006/relationships/font" Target="fonts/RobotoMono-italic.fntdata"/><Relationship Id="rId104" Type="http://schemas.openxmlformats.org/officeDocument/2006/relationships/font" Target="fonts/RobotoMono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Mono-regular.fntdata"/><Relationship Id="rId102" Type="http://schemas.openxmlformats.org/officeDocument/2006/relationships/font" Target="fonts/Arimo-boldItalic.fntdata"/><Relationship Id="rId101" Type="http://schemas.openxmlformats.org/officeDocument/2006/relationships/font" Target="fonts/Arimo-italic.fntdata"/><Relationship Id="rId100" Type="http://schemas.openxmlformats.org/officeDocument/2006/relationships/font" Target="fonts/Arimo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-regular.fntdata"/><Relationship Id="rId94" Type="http://schemas.openxmlformats.org/officeDocument/2006/relationships/font" Target="fonts/Play-bold.fntdata"/><Relationship Id="rId97" Type="http://schemas.openxmlformats.org/officeDocument/2006/relationships/font" Target="fonts/Roboto-italic.fntdata"/><Relationship Id="rId96" Type="http://schemas.openxmlformats.org/officeDocument/2006/relationships/font" Target="fonts/Roboto-bold.fntdata"/><Relationship Id="rId11" Type="http://schemas.openxmlformats.org/officeDocument/2006/relationships/slide" Target="slides/slide5.xml"/><Relationship Id="rId99" Type="http://schemas.openxmlformats.org/officeDocument/2006/relationships/font" Target="fonts/Arimo-regular.fntdata"/><Relationship Id="rId10" Type="http://schemas.openxmlformats.org/officeDocument/2006/relationships/slide" Target="slides/slide4.xml"/><Relationship Id="rId98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Play-regular.fntdata"/><Relationship Id="rId92" Type="http://schemas.openxmlformats.org/officeDocument/2006/relationships/font" Target="fonts/KronaOne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Slide With Paragraph v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9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lay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89"/>
          <p:cNvSpPr txBox="1"/>
          <p:nvPr>
            <p:ph idx="1" type="body"/>
          </p:nvPr>
        </p:nvSpPr>
        <p:spPr>
          <a:xfrm>
            <a:off x="755000" y="1358389"/>
            <a:ext cx="10369600" cy="36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89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#004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61960" y="2282939"/>
            <a:ext cx="628173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DDL: Restrições (Unique, Foreign Key, Check)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461959" y="4365760"/>
            <a:ext cx="6367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o uso de restrições para garantir integridade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Unique, Foreign Key e Check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" name="Google Shape;101;p1"/>
          <p:cNvSpPr txBox="1"/>
          <p:nvPr/>
        </p:nvSpPr>
        <p:spPr>
          <a:xfrm>
            <a:off x="9244013" y="1536174"/>
            <a:ext cx="25907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 de abril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Restrições no SQL: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2"/>
          <p:cNvGraphicFramePr/>
          <p:nvPr/>
        </p:nvGraphicFramePr>
        <p:xfrm>
          <a:off x="838200" y="2058055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BB29C"/>
                    </a:gs>
                    <a:gs pos="50000">
                      <a:srgbClr val="8EA78F"/>
                    </a:gs>
                    <a:gs pos="100000">
                      <a:srgbClr val="799A7B"/>
                    </a:gs>
                  </a:gsLst>
                  <a:lin ang="5400000" scaled="0"/>
                </a:gradFill>
                <a:tableStyleId>{7DA311B5-7495-4F01-9BBB-8F1CF0B295EE}</a:tableStyleId>
              </a:tblPr>
              <a:tblGrid>
                <a:gridCol w="3648075"/>
                <a:gridCol w="68675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Função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PRIMARY KEY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Identificador único obrigatório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UNIQUE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Valor único, mas pode ser nulo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FOREIGN KEY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Relaciona tabelas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NOT NULL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Impede valores nulos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CHECK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Impõe regras sobre valores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 – UNIQUE e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99" y="1342549"/>
            <a:ext cx="4305901" cy="160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4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 – Foreign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9" y="1388045"/>
            <a:ext cx="6049219" cy="1657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47" name="Google Shape;147;p5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406" y="1342549"/>
            <a:ext cx="6049219" cy="165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1166820" y="3108277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Use CHECK para regras de negócio (ex: idade mínima)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UNIQUE permite múltiplos NULL (exceto em alguns SGBDs)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Possíveis dúvidas: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Posso ter mais de um UNIQUE na tabela? → 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Posso ter mais de uma FOREIGN KEY? → 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342549"/>
            <a:ext cx="4305901" cy="160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61" name="Google Shape;161;p6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Exercicios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638179" y="1473192"/>
            <a:ext cx="1062037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tabela professores com id, email (único) e salario com CHECK (&gt; 1200)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tabela turmas com id_professor e FOREIGN KEY para professores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#005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61960" y="2282939"/>
            <a:ext cx="628173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Exercicios práticos com DDL: Projeto de esquema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5" name="Google Shape;175;p7"/>
          <p:cNvSpPr txBox="1"/>
          <p:nvPr/>
        </p:nvSpPr>
        <p:spPr>
          <a:xfrm>
            <a:off x="461959" y="4365760"/>
            <a:ext cx="6367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Consolidar uso de Create Table. Tipos de dados e restrições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Projetar estrutura de banco de dados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7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7"/>
          <p:cNvSpPr txBox="1"/>
          <p:nvPr/>
        </p:nvSpPr>
        <p:spPr>
          <a:xfrm>
            <a:off x="9244013" y="1536174"/>
            <a:ext cx="25907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 de abril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69" y="153741"/>
            <a:ext cx="558406" cy="697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188" name="Google Shape;188;p8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Exercicios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79937"/>
            <a:ext cx="528641" cy="65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638179" y="1473192"/>
            <a:ext cx="1062037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 → id, nome, email (único)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produtos → id, nome, preco (CHECK &gt;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pedidos → id, id_cliente (FK)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itens_pedido → id, id_pedido (FK), id_produto (FK), quantidade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01672" y="4703255"/>
            <a:ext cx="67281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e dúvidas comuns: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Cuidado com a ordem de criação (tabelas com FK vêm depois)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Verifique nomes de colunas e restrições com atenção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#007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461960" y="2282939"/>
            <a:ext cx="62817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DQL – Select e Where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3" name="Google Shape;203;p9"/>
          <p:cNvSpPr txBox="1"/>
          <p:nvPr/>
        </p:nvSpPr>
        <p:spPr>
          <a:xfrm>
            <a:off x="461959" y="4365760"/>
            <a:ext cx="6367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o uso correto do comando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Select com filtros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9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9"/>
          <p:cNvSpPr txBox="1"/>
          <p:nvPr/>
        </p:nvSpPr>
        <p:spPr>
          <a:xfrm>
            <a:off x="9244013" y="1536174"/>
            <a:ext cx="25907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 de abril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15" name="Google Shape;215;p10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dos Filtros, como puxar dados do Banco?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23899" y="1501378"/>
            <a:ext cx="991552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SELECT * FROM?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comando mais básico da linguagem SQL para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dados em uma tabela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11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26" name="Google Shape;226;p11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dos Filtros, como puxar dados do Banco?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723899" y="1501378"/>
            <a:ext cx="991552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SELECT * FROM?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comando mais básico da linguagem SQL para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dados em uma tabela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SELECT: indica que estamos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selecionando dados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*: significa “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colunas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FROM: indica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qual tabela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dados virão.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37" name="Google Shape;237;p12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Selecionando os dados da tabela 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723899" y="1501378"/>
            <a:ext cx="991552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* FROM clientes;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retorna todos os registros da tabela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" name="Google Shape;247;p13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48" name="Google Shape;248;p13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Selecionando os dados da tabela 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723899" y="1501378"/>
            <a:ext cx="991552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cuidado com o *.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Embora seja muito usado durante o aprendizado ou para testes,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recomendado em sistemas reais ou consultas grandes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trazer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 informação desnecessária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causar lentidão em sistemas com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registros ou colunas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esquema da tabela mudar, o resultado pode mudar também.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14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59" name="Google Shape;259;p14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Melhor prática: selecionar as colunas desejadas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723899" y="1501378"/>
            <a:ext cx="991552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nome, email FROM clientes;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15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70" name="Google Shape;270;p15"/>
          <p:cNvSpPr txBox="1"/>
          <p:nvPr/>
        </p:nvSpPr>
        <p:spPr>
          <a:xfrm>
            <a:off x="723899" y="1501378"/>
            <a:ext cx="99155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Recapitulando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p15"/>
          <p:cNvGraphicFramePr/>
          <p:nvPr/>
        </p:nvGraphicFramePr>
        <p:xfrm>
          <a:off x="2809504" y="2815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2439400"/>
                <a:gridCol w="35032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Parte do comando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Significado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SELECT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Diz que vamos puxar dados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*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Todas as colunas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FROM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Qual tabela usar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" name="Google Shape;280;p16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81" name="Google Shape;281;p16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Praticando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723899" y="1501378"/>
            <a:ext cx="991552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todos os dados da tabela alunos.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2 - Mostre apenas os nomes e titulações dos professores.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3 - Liste os nomes e os emails de todos os alunos cadastrados.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4 - Mostre o nome e a carga horária de todas as disciplinas.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5 - Mostre todos os registros da tabela notas.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6 - Exiba apenas os nomes e os emails dos professores.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17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292" name="Google Shape;292;p17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Clausura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723899" y="1501378"/>
            <a:ext cx="9915525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cláusula WHERE?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cláusula WHERE serve para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consulta SQL.</a:t>
            </a:r>
            <a:b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dizer ao banco de dados: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"Me traga apenas os dados que </a:t>
            </a:r>
            <a:r>
              <a:rPr b="1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atendem a determinada condição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18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03" name="Google Shape;303;p18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Sintaxe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723899" y="1501378"/>
            <a:ext cx="991552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colunas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condição;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3" name="Google Shape;313;p19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14" name="Google Shape;314;p19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Sintaxe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723899" y="1501378"/>
            <a:ext cx="991552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 o WHERE?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que você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quiser todos os registros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os que atendem a um critério específico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Alunos com idade maior que 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Produtos com preço abaixo de R$ 100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Professores com titulação "Doutor"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Pedidos com status "Cancelado"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20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25" name="Google Shape;325;p20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Where – Exemplos Básicos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723899" y="1190953"/>
            <a:ext cx="9915525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alunos com nome específico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* FROM alunos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nome = 'Ana Souza’;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Professores com título "Doutor”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 FROM professores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titulacao = 'Doutor’;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Notas menores que 7.0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* FROM notas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nota &lt; 7.0;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" name="Google Shape;335;p21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36" name="Google Shape;336;p21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Where – Pontos Importantes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7" name="Google Shape;337;p21"/>
          <p:cNvGraphicFramePr/>
          <p:nvPr/>
        </p:nvGraphicFramePr>
        <p:xfrm>
          <a:off x="2004148" y="1799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2883475"/>
                <a:gridCol w="46957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Situação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Detalhe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Texto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Use </a:t>
                      </a:r>
                      <a:r>
                        <a:rPr b="1" lang="pt-BR" sz="1800" u="none" cap="none" strike="noStrike"/>
                        <a:t>aspas simples</a:t>
                      </a:r>
                      <a:r>
                        <a:rPr lang="pt-BR" sz="1800" u="none" cap="none" strike="noStrike"/>
                        <a:t>: 'Texto'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Números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Não precisa de aspas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Datas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Também usam aspas simples: '2023-01-01'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Sem WHERE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consulta traz </a:t>
                      </a:r>
                      <a:r>
                        <a:rPr b="1" lang="pt-BR" sz="1800" u="none" cap="none" strike="noStrike"/>
                        <a:t>todos os dados da tabela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38" name="Google Shape;338;p21"/>
          <p:cNvSpPr txBox="1"/>
          <p:nvPr/>
        </p:nvSpPr>
        <p:spPr>
          <a:xfrm>
            <a:off x="573974" y="4421682"/>
            <a:ext cx="1104405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rápidas: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 operadores: =, !=, &lt;, &gt;, &lt;=, &gt;=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combinar condições com AND, OR, NOT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é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obrigatório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limitar atualizações e exclusões com UPDATE ou DELETE (para evitar alterar tudo!)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2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7" name="Google Shape;347;p22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48" name="Google Shape;348;p22"/>
          <p:cNvSpPr txBox="1"/>
          <p:nvPr/>
        </p:nvSpPr>
        <p:spPr>
          <a:xfrm>
            <a:off x="320786" y="2499742"/>
            <a:ext cx="2291785" cy="964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Operadores de 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22"/>
          <p:cNvGraphicFramePr/>
          <p:nvPr/>
        </p:nvGraphicFramePr>
        <p:xfrm>
          <a:off x="3169506" y="530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2050825"/>
                <a:gridCol w="2050825"/>
                <a:gridCol w="2050825"/>
                <a:gridCol w="2050825"/>
              </a:tblGrid>
              <a:tr h="28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Operador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Significado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Exemplo de uso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Explicação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=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Igual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nome = 'Ana'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Filtra registros com valor exato igual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!=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Diferente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nota != 10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Filtra registros com valor diferente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&lt;&gt;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Diferente (forma alternativa)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idade &lt;&gt; 18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Equivale a !=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&gt;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Maior que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preco &gt; 100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Seleciona valores maiores que o indicado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&lt;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Menor que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carga_horaria &lt; 40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Seleciona valores menores que o indicado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28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&gt;=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Maior ou igual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nota &gt;= 7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Inclui o valor limite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28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&lt;=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Menor ou igual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idade &lt;= 16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Inclui o valor limite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IS NULL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Valor nulo (vazio)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telefone IS NULL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Verifica se o valor está ausente (nulo)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  <a:tr h="49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IS NOT NULL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Valor não nulo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email IS NOT NULL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Verifica se o valor existe</a:t>
                      </a:r>
                      <a:endParaRPr sz="1400" u="none" cap="none" strike="noStrike"/>
                    </a:p>
                  </a:txBody>
                  <a:tcPr marT="35675" marB="35675" marR="71325" marL="713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" name="Google Shape;358;p23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59" name="Google Shape;359;p23"/>
          <p:cNvSpPr txBox="1"/>
          <p:nvPr/>
        </p:nvSpPr>
        <p:spPr>
          <a:xfrm>
            <a:off x="416210" y="888964"/>
            <a:ext cx="347889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Operadores Logicos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60" name="Google Shape;360;p23"/>
          <p:cNvGraphicFramePr/>
          <p:nvPr/>
        </p:nvGraphicFramePr>
        <p:xfrm>
          <a:off x="734663" y="25414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3505200"/>
                <a:gridCol w="3505200"/>
                <a:gridCol w="35052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Operador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Significado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Uso típico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E</a:t>
                      </a:r>
                      <a:r>
                        <a:rPr lang="pt-BR" sz="1800" u="none" cap="none" strike="noStrike"/>
                        <a:t> – todas as condições devem ser verdadeiras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nota &gt; 7 AND id_disciplina =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OU</a:t>
                      </a:r>
                      <a:r>
                        <a:rPr lang="pt-BR" sz="1800" u="none" cap="none" strike="noStrike"/>
                        <a:t> – pelo menos uma condição deve ser verdadeira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titulacao = 'Mestre' OR titulacao = 'Doutor'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NÃO</a:t>
                      </a:r>
                      <a:r>
                        <a:rPr lang="pt-BR" sz="1800" u="none" cap="none" strike="noStrike"/>
                        <a:t> – nega uma condição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 nome = 'Ana Souza'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9" name="Google Shape;369;p24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70" name="Google Shape;370;p24"/>
          <p:cNvSpPr txBox="1"/>
          <p:nvPr/>
        </p:nvSpPr>
        <p:spPr>
          <a:xfrm>
            <a:off x="416210" y="888964"/>
            <a:ext cx="347889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Operadores Logicos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71" name="Google Shape;371;p24"/>
          <p:cNvGraphicFramePr/>
          <p:nvPr/>
        </p:nvGraphicFramePr>
        <p:xfrm>
          <a:off x="734663" y="25414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3505200"/>
                <a:gridCol w="3505200"/>
                <a:gridCol w="35052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Operador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Significado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Uso típico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E</a:t>
                      </a:r>
                      <a:r>
                        <a:rPr lang="pt-BR" sz="1800" u="none" cap="none" strike="noStrike"/>
                        <a:t> – todas as condições devem ser verdadeiras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nota &gt; 7 AND id_disciplina =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OU</a:t>
                      </a:r>
                      <a:r>
                        <a:rPr lang="pt-BR" sz="1800" u="none" cap="none" strike="noStrike"/>
                        <a:t> – pelo menos uma condição deve ser verdadeira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titulacao = 'Mestre' OR titulacao = 'Doutor'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NÃO</a:t>
                      </a:r>
                      <a:r>
                        <a:rPr lang="pt-BR" sz="1800" u="none" cap="none" strike="noStrike"/>
                        <a:t> – nega uma condição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NOT nome = 'Ana Souza'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5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25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381" name="Google Shape;381;p25"/>
          <p:cNvSpPr txBox="1"/>
          <p:nvPr/>
        </p:nvSpPr>
        <p:spPr>
          <a:xfrm>
            <a:off x="357188" y="688251"/>
            <a:ext cx="7217092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Praticando: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723899" y="1501378"/>
            <a:ext cx="991552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 Liste o nome e a data de nascimento dos alunos que nasceram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01/01/2005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2 - Mostre nome e titulação de todos os professores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não têm o título 'Mestre’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3 - Exiba o nome das disciplinas que têm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carga horária igual a 40 ou 60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4 - Liste todas as notas que estão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7 e 9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o ID do aluno e da disciplina.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5 - Exiba professores cujo nome seja “Sérgio Oliveira”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cujo email esteja ausente (NULL).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#008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461960" y="2282939"/>
            <a:ext cx="71942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DQL – Filtros avançados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" name="Google Shape;393;p26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4" name="Google Shape;394;p26"/>
          <p:cNvSpPr txBox="1"/>
          <p:nvPr/>
        </p:nvSpPr>
        <p:spPr>
          <a:xfrm>
            <a:off x="461959" y="4365760"/>
            <a:ext cx="6367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os filtros avançados do DQL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Foco em Like, Between, In, Is Null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26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6" name="Google Shape;396;p26"/>
          <p:cNvSpPr txBox="1"/>
          <p:nvPr/>
        </p:nvSpPr>
        <p:spPr>
          <a:xfrm>
            <a:off x="9244013" y="1536174"/>
            <a:ext cx="25907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27 de abril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7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27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06" name="Google Shape;406;p27"/>
          <p:cNvSpPr txBox="1"/>
          <p:nvPr/>
        </p:nvSpPr>
        <p:spPr>
          <a:xfrm>
            <a:off x="357188" y="688251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Revisão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723899" y="1501378"/>
            <a:ext cx="991552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Revisão: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conforme uma condição.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022" y="3685497"/>
            <a:ext cx="4218765" cy="2095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8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28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18" name="Google Shape;418;p28"/>
          <p:cNvSpPr txBox="1"/>
          <p:nvPr/>
        </p:nvSpPr>
        <p:spPr>
          <a:xfrm>
            <a:off x="357188" y="688251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Revisão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723899" y="1501378"/>
            <a:ext cx="9915525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Atenção: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Textos e datas usam aspas simples 'texto'.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Números não precisam de aspas.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WHERE, todos os registros serão retornados.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832" y="4524853"/>
            <a:ext cx="7007657" cy="166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" name="Google Shape;429;p29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30" name="Google Shape;430;p29"/>
          <p:cNvSpPr txBox="1"/>
          <p:nvPr/>
        </p:nvSpPr>
        <p:spPr>
          <a:xfrm>
            <a:off x="357188" y="688251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723899" y="1501378"/>
            <a:ext cx="9915525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Ordenar o resultado da consulta em ordem crescente (ASC) ou decrescente (DESC).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9" y="3056590"/>
            <a:ext cx="7059327" cy="2300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0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0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0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42" name="Google Shape;442;p30"/>
          <p:cNvSpPr txBox="1"/>
          <p:nvPr/>
        </p:nvSpPr>
        <p:spPr>
          <a:xfrm>
            <a:off x="357188" y="688251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723899" y="1501378"/>
            <a:ext cx="99155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98" y="2232431"/>
            <a:ext cx="9465870" cy="3500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1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" name="Google Shape;453;p31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54" name="Google Shape;454;p31"/>
          <p:cNvSpPr txBox="1"/>
          <p:nvPr/>
        </p:nvSpPr>
        <p:spPr>
          <a:xfrm>
            <a:off x="357188" y="688251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1"/>
          <p:cNvSpPr txBox="1"/>
          <p:nvPr/>
        </p:nvSpPr>
        <p:spPr>
          <a:xfrm>
            <a:off x="723899" y="1501378"/>
            <a:ext cx="99155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98" y="2232431"/>
            <a:ext cx="9465870" cy="350080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1"/>
          <p:cNvSpPr/>
          <p:nvPr/>
        </p:nvSpPr>
        <p:spPr>
          <a:xfrm>
            <a:off x="357188" y="6025217"/>
            <a:ext cx="12982414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ordenar por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de uma coluna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ORDER BY cidade ASC, nome DESC;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2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6" name="Google Shape;466;p32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67" name="Google Shape;467;p32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723899" y="1501378"/>
            <a:ext cx="99155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registros que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combinam parcialmente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um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9" y="2616831"/>
            <a:ext cx="6027789" cy="20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3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3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79" name="Google Shape;479;p33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723899" y="1501378"/>
            <a:ext cx="99155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Coringas usados: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   → Qualquer sequência de caracteres.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      → Um único caractere.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" y="3292861"/>
            <a:ext cx="6870588" cy="2891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4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4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91" name="Google Shape;491;p34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673858" y="1218431"/>
            <a:ext cx="99155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Coringas usados: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   → Qualquer sequência de caracteres.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      → Um único caractere.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2735277"/>
            <a:ext cx="6870588" cy="289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858" y="5684705"/>
            <a:ext cx="4857852" cy="117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5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35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04" name="Google Shape;504;p35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BETWEEN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5"/>
          <p:cNvSpPr txBox="1"/>
          <p:nvPr/>
        </p:nvSpPr>
        <p:spPr>
          <a:xfrm>
            <a:off x="673858" y="1218431"/>
            <a:ext cx="99155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que estão dentro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intervalo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incluindo os limites.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431" y="2469780"/>
            <a:ext cx="7662640" cy="182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6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6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36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16" name="Google Shape;516;p36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BETWEEN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673858" y="1218431"/>
            <a:ext cx="99155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que estão dentro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intervalo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incluindo os limites.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966" y="2533624"/>
            <a:ext cx="8271034" cy="316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7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7" name="Google Shape;527;p37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28" name="Google Shape;528;p37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673858" y="1218431"/>
            <a:ext cx="99155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que correspondem 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lista de valores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" y="2489025"/>
            <a:ext cx="9415539" cy="2181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"/>
          <p:cNvSpPr/>
          <p:nvPr/>
        </p:nvSpPr>
        <p:spPr>
          <a:xfrm>
            <a:off x="0" y="6687450"/>
            <a:ext cx="8963100" cy="17070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8"/>
          <p:cNvSpPr/>
          <p:nvPr/>
        </p:nvSpPr>
        <p:spPr>
          <a:xfrm>
            <a:off x="8963025" y="6687450"/>
            <a:ext cx="2514600" cy="170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8"/>
          <p:cNvSpPr/>
          <p:nvPr/>
        </p:nvSpPr>
        <p:spPr>
          <a:xfrm>
            <a:off x="11477625" y="6687450"/>
            <a:ext cx="714300" cy="17070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8"/>
          <p:cNvSpPr txBox="1"/>
          <p:nvPr>
            <p:ph idx="12" type="sldNum"/>
          </p:nvPr>
        </p:nvSpPr>
        <p:spPr>
          <a:xfrm>
            <a:off x="11372850" y="186424"/>
            <a:ext cx="4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8"/>
          <p:cNvCxnSpPr/>
          <p:nvPr/>
        </p:nvCxnSpPr>
        <p:spPr>
          <a:xfrm>
            <a:off x="1562103" y="407086"/>
            <a:ext cx="9810600" cy="0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40" name="Google Shape;540;p38"/>
          <p:cNvSpPr txBox="1"/>
          <p:nvPr/>
        </p:nvSpPr>
        <p:spPr>
          <a:xfrm>
            <a:off x="872966" y="673183"/>
            <a:ext cx="72171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673858" y="1218431"/>
            <a:ext cx="99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que correspondem 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lista de valores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" y="2390415"/>
            <a:ext cx="6966806" cy="304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"/>
          <p:cNvSpPr/>
          <p:nvPr/>
        </p:nvSpPr>
        <p:spPr>
          <a:xfrm>
            <a:off x="0" y="6687450"/>
            <a:ext cx="8963100" cy="17070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9"/>
          <p:cNvSpPr/>
          <p:nvPr/>
        </p:nvSpPr>
        <p:spPr>
          <a:xfrm>
            <a:off x="8963025" y="6687450"/>
            <a:ext cx="2514600" cy="170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9"/>
          <p:cNvSpPr/>
          <p:nvPr/>
        </p:nvSpPr>
        <p:spPr>
          <a:xfrm>
            <a:off x="11477625" y="6687450"/>
            <a:ext cx="714300" cy="17070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9"/>
          <p:cNvSpPr txBox="1"/>
          <p:nvPr>
            <p:ph idx="12" type="sldNum"/>
          </p:nvPr>
        </p:nvSpPr>
        <p:spPr>
          <a:xfrm>
            <a:off x="11372850" y="186424"/>
            <a:ext cx="4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1" name="Google Shape;551;p39"/>
          <p:cNvCxnSpPr/>
          <p:nvPr/>
        </p:nvCxnSpPr>
        <p:spPr>
          <a:xfrm>
            <a:off x="1562103" y="407086"/>
            <a:ext cx="9810600" cy="0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52" name="Google Shape;552;p39"/>
          <p:cNvSpPr txBox="1"/>
          <p:nvPr/>
        </p:nvSpPr>
        <p:spPr>
          <a:xfrm>
            <a:off x="872966" y="673183"/>
            <a:ext cx="72171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673858" y="1218431"/>
            <a:ext cx="99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 que correspondem 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lista de valores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" y="2390415"/>
            <a:ext cx="6966806" cy="304160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9"/>
          <p:cNvSpPr txBox="1"/>
          <p:nvPr/>
        </p:nvSpPr>
        <p:spPr>
          <a:xfrm>
            <a:off x="1166820" y="5639569"/>
            <a:ext cx="609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eficiente do que usar vários 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id = 1 OR id = 3 OR id = 5 → id IN (1,3,5))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0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0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0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4" name="Google Shape;564;p40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65" name="Google Shape;565;p40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6" name="Google Shape;566;p40"/>
          <p:cNvGraphicFramePr/>
          <p:nvPr/>
        </p:nvGraphicFramePr>
        <p:xfrm>
          <a:off x="638179" y="20450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{7DA311B5-7495-4F01-9BBB-8F1CF0B295EE}</a:tableStyleId>
              </a:tblPr>
              <a:tblGrid>
                <a:gridCol w="5257800"/>
                <a:gridCol w="52578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Comando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Função Principal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WHERE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Filtrar registros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ORDER BY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Ordenar o resultado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LIKE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Buscar padrões no texto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BETWEEN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Buscar dentro de um intervalo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IN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Buscar entre múltiplos valores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1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5" name="Google Shape;575;p41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576" name="Google Shape;576;p41"/>
          <p:cNvSpPr txBox="1"/>
          <p:nvPr/>
        </p:nvSpPr>
        <p:spPr>
          <a:xfrm>
            <a:off x="872966" y="673183"/>
            <a:ext cx="7217092" cy="54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1"/>
          <p:cNvSpPr txBox="1"/>
          <p:nvPr/>
        </p:nvSpPr>
        <p:spPr>
          <a:xfrm>
            <a:off x="638178" y="1515943"/>
            <a:ext cx="9810747" cy="3090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alunos cujo nome comece com "J".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professores com título "Mestre" ou "Especialista".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disciplinas com carga horária entre 30 e 60 horas.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alunos ordenados pela data de nascimento (mais novo primeiro).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disciplinas onde o ID seja 2, 4 ou 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notas maiores que 7 e menores que 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2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2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2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#009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42"/>
          <p:cNvSpPr txBox="1"/>
          <p:nvPr/>
        </p:nvSpPr>
        <p:spPr>
          <a:xfrm>
            <a:off x="461960" y="2282939"/>
            <a:ext cx="71942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DQL – Funções de Agregação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42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9" name="Google Shape;589;p42"/>
          <p:cNvSpPr txBox="1"/>
          <p:nvPr/>
        </p:nvSpPr>
        <p:spPr>
          <a:xfrm>
            <a:off x="461959" y="4365760"/>
            <a:ext cx="63674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e aplicar as funções COUNT(), SUM(), AVG() em consultas SQL.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 dados com GROUP BY.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grupos com HAVING.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42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91" name="Google Shape;591;p42"/>
          <p:cNvSpPr txBox="1"/>
          <p:nvPr/>
        </p:nvSpPr>
        <p:spPr>
          <a:xfrm>
            <a:off x="9244013" y="1536174"/>
            <a:ext cx="2590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 de março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3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3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3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" name="Google Shape;600;p43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01" name="Google Shape;601;p43"/>
          <p:cNvSpPr txBox="1"/>
          <p:nvPr/>
        </p:nvSpPr>
        <p:spPr>
          <a:xfrm>
            <a:off x="638179" y="1175379"/>
            <a:ext cx="72170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quantos registros existem.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3237211"/>
            <a:ext cx="5548514" cy="110970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 txBox="1"/>
          <p:nvPr/>
        </p:nvSpPr>
        <p:spPr>
          <a:xfrm>
            <a:off x="638179" y="2774668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Contar todos os registros de uma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4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2" name="Google Shape;612;p44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13" name="Google Shape;613;p44"/>
          <p:cNvSpPr txBox="1"/>
          <p:nvPr/>
        </p:nvSpPr>
        <p:spPr>
          <a:xfrm>
            <a:off x="638179" y="1175379"/>
            <a:ext cx="72170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quantos registros existem.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4"/>
          <p:cNvSpPr txBox="1"/>
          <p:nvPr/>
        </p:nvSpPr>
        <p:spPr>
          <a:xfrm>
            <a:off x="638179" y="252077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Contar valores não nulos de uma coluna específica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3152738"/>
            <a:ext cx="8522342" cy="1051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5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5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5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5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4" name="Google Shape;624;p45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25" name="Google Shape;625;p45"/>
          <p:cNvSpPr txBox="1"/>
          <p:nvPr/>
        </p:nvSpPr>
        <p:spPr>
          <a:xfrm>
            <a:off x="638179" y="1175379"/>
            <a:ext cx="72170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quantos registros existem.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5"/>
          <p:cNvSpPr txBox="1"/>
          <p:nvPr/>
        </p:nvSpPr>
        <p:spPr>
          <a:xfrm>
            <a:off x="638179" y="2693887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Contar por filtros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3101319"/>
            <a:ext cx="6304405" cy="1986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6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6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6" name="Google Shape;636;p46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37" name="Google Shape;637;p46"/>
          <p:cNvSpPr txBox="1"/>
          <p:nvPr/>
        </p:nvSpPr>
        <p:spPr>
          <a:xfrm>
            <a:off x="742381" y="1046637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os valores de uma coluna numérica.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9" y="2190036"/>
            <a:ext cx="5286564" cy="109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7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7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47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48" name="Google Shape;648;p47"/>
          <p:cNvSpPr/>
          <p:nvPr/>
        </p:nvSpPr>
        <p:spPr>
          <a:xfrm>
            <a:off x="638179" y="735095"/>
            <a:ext cx="822052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AVG()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 a média dos valores de uma coluna numérica.</a:t>
            </a:r>
            <a:endParaRPr b="0" i="0" sz="26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mo"/>
              <a:buNone/>
            </a:pPr>
            <a:r>
              <a:rPr b="0" i="0" lang="pt-BR" sz="2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sql</a:t>
            </a:r>
            <a:endParaRPr b="0" i="0" sz="26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45" y="2880499"/>
            <a:ext cx="5495102" cy="1333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8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8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48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59" name="Google Shape;659;p48"/>
          <p:cNvSpPr/>
          <p:nvPr/>
        </p:nvSpPr>
        <p:spPr>
          <a:xfrm>
            <a:off x="638179" y="1304482"/>
            <a:ext cx="10942354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 linhas que têm os mesmos valores em colunas especificadas.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0" name="Google Shape;6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345" y="2757302"/>
            <a:ext cx="6788555" cy="2090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9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9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9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9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9" name="Google Shape;669;p49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70" name="Google Shape;670;p49"/>
          <p:cNvSpPr/>
          <p:nvPr/>
        </p:nvSpPr>
        <p:spPr>
          <a:xfrm>
            <a:off x="638179" y="1089038"/>
            <a:ext cx="1032975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 os resultados após o agrupamento (semelhante ao WHERE,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usado com GROUP BY).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9" y="3035076"/>
            <a:ext cx="8289144" cy="2733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0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0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0"/>
          <p:cNvSpPr txBox="1"/>
          <p:nvPr>
            <p:ph idx="12" type="sldNum"/>
          </p:nvPr>
        </p:nvSpPr>
        <p:spPr>
          <a:xfrm>
            <a:off x="11372850" y="186424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pt-BR">
                <a:solidFill>
                  <a:srgbClr val="FF9C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1">
              <a:solidFill>
                <a:srgbClr val="FF9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0" name="Google Shape;680;p50"/>
          <p:cNvCxnSpPr/>
          <p:nvPr/>
        </p:nvCxnSpPr>
        <p:spPr>
          <a:xfrm>
            <a:off x="1562103" y="407086"/>
            <a:ext cx="9810747" cy="1"/>
          </a:xfrm>
          <a:prstGeom prst="straightConnector1">
            <a:avLst/>
          </a:prstGeom>
          <a:noFill/>
          <a:ln cap="flat" cmpd="sng" w="12700">
            <a:solidFill>
              <a:srgbClr val="292B5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81" name="Google Shape;681;p50"/>
          <p:cNvSpPr/>
          <p:nvPr/>
        </p:nvSpPr>
        <p:spPr>
          <a:xfrm>
            <a:off x="638173" y="954900"/>
            <a:ext cx="251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0"/>
          <p:cNvSpPr/>
          <p:nvPr/>
        </p:nvSpPr>
        <p:spPr>
          <a:xfrm>
            <a:off x="742950" y="1872039"/>
            <a:ext cx="1137285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o banco de dados ifac, execute as seguintes consultas: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 quantos alunos estão cadastrados.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Mostre a soma total das notas da tabela notas.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Apresente a média de notas dos alunos por disciplina.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Mostre quantas disciplinas existem por carga horária.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Mostre apenas os grupos de disciplinas cuja carga horária total ultrapasse 60h.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Liste quantos alunos existem por data de nascimento.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1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#010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p51"/>
          <p:cNvSpPr txBox="1"/>
          <p:nvPr/>
        </p:nvSpPr>
        <p:spPr>
          <a:xfrm>
            <a:off x="461960" y="2282939"/>
            <a:ext cx="71942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Joins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51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4" name="Google Shape;694;p51"/>
          <p:cNvSpPr txBox="1"/>
          <p:nvPr/>
        </p:nvSpPr>
        <p:spPr>
          <a:xfrm>
            <a:off x="461959" y="4365760"/>
            <a:ext cx="6367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Enternder o que são joins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Left, right full join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51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9244013" y="1536174"/>
            <a:ext cx="25908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2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02" name="Google Shape;702;p52"/>
          <p:cNvSpPr txBox="1"/>
          <p:nvPr/>
        </p:nvSpPr>
        <p:spPr>
          <a:xfrm>
            <a:off x="301600" y="1555767"/>
            <a:ext cx="11223600" cy="281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pt-BR" sz="1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da Aula</a:t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o que são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os principais tipos de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○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○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○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○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com exemplos práticos para fixar os conceitos.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3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708" name="Google Shape;7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33" y="1123001"/>
            <a:ext cx="9144531" cy="514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4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14" name="Google Shape;714;p54"/>
          <p:cNvSpPr txBox="1"/>
          <p:nvPr/>
        </p:nvSpPr>
        <p:spPr>
          <a:xfrm>
            <a:off x="301600" y="1555767"/>
            <a:ext cx="11223600" cy="3899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pt-BR" sz="1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Introdução: O que são JOINS?</a:t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combina dados de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ou mais tabelas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base em uma condição de relacionamento.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Normalmente, o relacionamento entre tabelas é feito usando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primárias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estrangeiras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Extrair informações de tabelas relacionadas em uma única consulta.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Cenário: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duas tabelas: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Informações dos clientes.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3" lvl="1" marL="1219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vendas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Informações das vendas realizadas.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tabelas são relacionadas pelo campo </a:t>
            </a:r>
            <a:r>
              <a:rPr b="1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cliente_id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5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20" name="Google Shape;720;p55"/>
          <p:cNvSpPr txBox="1"/>
          <p:nvPr/>
        </p:nvSpPr>
        <p:spPr>
          <a:xfrm>
            <a:off x="301600" y="1555768"/>
            <a:ext cx="11223600" cy="48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pt-BR" sz="1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JOINS</a:t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INNER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apenas os registros que têm correspondência nas duas tabelas.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Sintaxe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tabela1.coluna, tabela2.coluna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tabela1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 tabela2 ON tabela1.chave = tabela2.chave;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t/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6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26" name="Google Shape;726;p56"/>
          <p:cNvSpPr txBox="1"/>
          <p:nvPr/>
        </p:nvSpPr>
        <p:spPr>
          <a:xfrm>
            <a:off x="301600" y="1555767"/>
            <a:ext cx="11223600" cy="282246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t/>
            </a:r>
            <a:endParaRPr b="1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2533" y="824234"/>
            <a:ext cx="3236331" cy="2523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33" name="Google Shape;733;p57"/>
          <p:cNvSpPr txBox="1"/>
          <p:nvPr/>
        </p:nvSpPr>
        <p:spPr>
          <a:xfrm>
            <a:off x="301600" y="1555767"/>
            <a:ext cx="11223600" cy="3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LEFT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todos os registros da tabela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esquerda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(tabela principal), mesmo que não haja correspondência na tabela à direita.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Sintaxe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tabela1.coluna, tabela2.coluna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tabela1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 tabela2 ON tabela1.chave = tabela2.chave;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8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39" name="Google Shape;739;p58"/>
          <p:cNvSpPr txBox="1"/>
          <p:nvPr/>
        </p:nvSpPr>
        <p:spPr>
          <a:xfrm>
            <a:off x="301600" y="1555767"/>
            <a:ext cx="11223600" cy="2775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0" name="Google Shape;74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817" y="965201"/>
            <a:ext cx="3927095" cy="2564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9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46" name="Google Shape;746;p59"/>
          <p:cNvSpPr txBox="1"/>
          <p:nvPr/>
        </p:nvSpPr>
        <p:spPr>
          <a:xfrm>
            <a:off x="301600" y="1555767"/>
            <a:ext cx="11223600" cy="3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RIGHT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todos os registros da tabela </a:t>
            </a: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direita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mesmo que não haja correspondência na tabela à esquerda.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Sintaxe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tabela1.coluna, tabela2.coluna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tabela1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 tabela2 ON tabela1.chave = tabela2.chave;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0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52" name="Google Shape;752;p60"/>
          <p:cNvSpPr txBox="1"/>
          <p:nvPr/>
        </p:nvSpPr>
        <p:spPr>
          <a:xfrm>
            <a:off x="301600" y="1555767"/>
            <a:ext cx="11223600" cy="2775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Google Shape;75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9067" y="976733"/>
            <a:ext cx="3429000" cy="28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1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59" name="Google Shape;759;p61"/>
          <p:cNvSpPr txBox="1"/>
          <p:nvPr/>
        </p:nvSpPr>
        <p:spPr>
          <a:xfrm>
            <a:off x="301600" y="1555767"/>
            <a:ext cx="11223600" cy="401907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 FULL OUTER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todos os registros de ambas as tabelas, com correspondência ou não.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Nem todos os sistemas de banco de dados suportam </a:t>
            </a:r>
            <a:r>
              <a:rPr b="1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diretamente (ex: MySQL não suporta nativamente).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Sintaxe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tabela1.coluna, tabela2.coluna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tabela1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 tabela2 ON tabela1.chave = tabela2.chave;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2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65" name="Google Shape;765;p62"/>
          <p:cNvSpPr txBox="1"/>
          <p:nvPr/>
        </p:nvSpPr>
        <p:spPr>
          <a:xfrm>
            <a:off x="301600" y="1555767"/>
            <a:ext cx="11223600" cy="2775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(dependendo do banco de dados)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267" y="1017701"/>
            <a:ext cx="3438679" cy="2564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3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772" name="Google Shape;772;p63"/>
          <p:cNvSpPr txBox="1"/>
          <p:nvPr/>
        </p:nvSpPr>
        <p:spPr>
          <a:xfrm>
            <a:off x="301600" y="1555767"/>
            <a:ext cx="11223600" cy="916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34" y="1350168"/>
            <a:ext cx="9070309" cy="2078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733" y="3846067"/>
            <a:ext cx="9070299" cy="217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4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780" name="Google Shape;78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4"/>
          <p:cNvSpPr txBox="1"/>
          <p:nvPr/>
        </p:nvSpPr>
        <p:spPr>
          <a:xfrm>
            <a:off x="301600" y="1555767"/>
            <a:ext cx="11223600" cy="916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4"/>
          <p:cNvSpPr txBox="1"/>
          <p:nvPr/>
        </p:nvSpPr>
        <p:spPr>
          <a:xfrm>
            <a:off x="301600" y="1356534"/>
            <a:ext cx="11223600" cy="338755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1: INNER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67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●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00" y="3648800"/>
            <a:ext cx="10682000" cy="2319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90612" y="5538101"/>
            <a:ext cx="1692787" cy="13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3067" y="132421"/>
            <a:ext cx="5340999" cy="122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413" y="1463567"/>
            <a:ext cx="5516855" cy="1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5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792" name="Google Shape;79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5"/>
          <p:cNvSpPr txBox="1"/>
          <p:nvPr/>
        </p:nvSpPr>
        <p:spPr>
          <a:xfrm>
            <a:off x="301600" y="1555767"/>
            <a:ext cx="11223600" cy="916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5"/>
          <p:cNvSpPr txBox="1"/>
          <p:nvPr/>
        </p:nvSpPr>
        <p:spPr>
          <a:xfrm>
            <a:off x="301600" y="1356533"/>
            <a:ext cx="11223600" cy="3035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2: LEFT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267" y="3700033"/>
            <a:ext cx="9545309" cy="2503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7568" y="5300800"/>
            <a:ext cx="2384433" cy="15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3067" y="132421"/>
            <a:ext cx="5340999" cy="122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413" y="1463567"/>
            <a:ext cx="5516855" cy="1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6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04" name="Google Shape;8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6"/>
          <p:cNvSpPr txBox="1"/>
          <p:nvPr/>
        </p:nvSpPr>
        <p:spPr>
          <a:xfrm>
            <a:off x="301600" y="1555767"/>
            <a:ext cx="11223600" cy="916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6"/>
          <p:cNvSpPr txBox="1"/>
          <p:nvPr/>
        </p:nvSpPr>
        <p:spPr>
          <a:xfrm>
            <a:off x="301600" y="1356534"/>
            <a:ext cx="11223600" cy="349982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3: RIGHT JOIN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97922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8038"/>
              </a:buClr>
              <a:buSzPts val="1100"/>
              <a:buFont typeface="Roboto Mono"/>
              <a:buChar char="●"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034" y="4125700"/>
            <a:ext cx="10078145" cy="203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15859" y="5306767"/>
            <a:ext cx="1876141" cy="15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413" y="1463567"/>
            <a:ext cx="5516855" cy="13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3067" y="132421"/>
            <a:ext cx="5340999" cy="122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7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Joins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816" name="Google Shape;816;p67"/>
          <p:cNvSpPr txBox="1"/>
          <p:nvPr/>
        </p:nvSpPr>
        <p:spPr>
          <a:xfrm>
            <a:off x="301600" y="1555767"/>
            <a:ext cx="11223600" cy="9161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67"/>
          <p:cNvSpPr txBox="1"/>
          <p:nvPr/>
        </p:nvSpPr>
        <p:spPr>
          <a:xfrm>
            <a:off x="301600" y="1356533"/>
            <a:ext cx="11223600" cy="2775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pt-BR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 FULL OUTER JOIN (Se Suportado):</a:t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clientes.nome, vendas.valor, vendas.data_venda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clientes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0" i="0" lang="pt-BR" sz="1467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 vendas ON clientes.id = vendas.cliente_id;</a:t>
            </a:r>
            <a:endParaRPr b="0" i="0" sz="1467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t/>
            </a:r>
            <a:endParaRPr b="1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7" y="3576334"/>
            <a:ext cx="9687701" cy="2904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3067" y="132421"/>
            <a:ext cx="5340999" cy="122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413" y="1463567"/>
            <a:ext cx="5516855" cy="1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8"/>
          <p:cNvSpPr/>
          <p:nvPr/>
        </p:nvSpPr>
        <p:spPr>
          <a:xfrm>
            <a:off x="0" y="6687450"/>
            <a:ext cx="8963025" cy="170550"/>
          </a:xfrm>
          <a:prstGeom prst="rect">
            <a:avLst/>
          </a:prstGeom>
          <a:solidFill>
            <a:srgbClr val="1250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68"/>
          <p:cNvSpPr/>
          <p:nvPr/>
        </p:nvSpPr>
        <p:spPr>
          <a:xfrm>
            <a:off x="8963025" y="6687450"/>
            <a:ext cx="2514600" cy="170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8"/>
          <p:cNvSpPr/>
          <p:nvPr/>
        </p:nvSpPr>
        <p:spPr>
          <a:xfrm>
            <a:off x="11477625" y="6687450"/>
            <a:ext cx="714375" cy="170550"/>
          </a:xfrm>
          <a:prstGeom prst="rect">
            <a:avLst/>
          </a:prstGeom>
          <a:solidFill>
            <a:srgbClr val="8CD8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8"/>
          <p:cNvSpPr txBox="1"/>
          <p:nvPr/>
        </p:nvSpPr>
        <p:spPr>
          <a:xfrm>
            <a:off x="461960" y="1400175"/>
            <a:ext cx="11977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#000</a:t>
            </a:r>
            <a:endParaRPr b="0" i="0" sz="1800" u="none" cap="none" strike="noStrik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0" name="Google Shape;830;p68"/>
          <p:cNvSpPr txBox="1"/>
          <p:nvPr/>
        </p:nvSpPr>
        <p:spPr>
          <a:xfrm>
            <a:off x="461960" y="2282939"/>
            <a:ext cx="71942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SubSelects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1" name="Google Shape;831;p68"/>
          <p:cNvCxnSpPr/>
          <p:nvPr/>
        </p:nvCxnSpPr>
        <p:spPr>
          <a:xfrm flipH="1" rot="10800000">
            <a:off x="461960" y="4110127"/>
            <a:ext cx="3205165" cy="1920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32" name="Google Shape;832;p68"/>
          <p:cNvCxnSpPr/>
          <p:nvPr/>
        </p:nvCxnSpPr>
        <p:spPr>
          <a:xfrm>
            <a:off x="8963025" y="0"/>
            <a:ext cx="0" cy="6858450"/>
          </a:xfrm>
          <a:prstGeom prst="straightConnector1">
            <a:avLst/>
          </a:prstGeom>
          <a:noFill/>
          <a:ln cap="flat" cmpd="sng" w="12700">
            <a:solidFill>
              <a:srgbClr val="FF9C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33" name="Google Shape;833;p68"/>
          <p:cNvSpPr txBox="1"/>
          <p:nvPr/>
        </p:nvSpPr>
        <p:spPr>
          <a:xfrm>
            <a:off x="9244013" y="1536174"/>
            <a:ext cx="25907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Álvaro Lopes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Disciplina: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Banco de Dados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 de maio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Rio Branco/AC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4" name="Google Shape;83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69" y="153741"/>
            <a:ext cx="558406" cy="697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9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40" name="Google Shape;84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69"/>
          <p:cNvSpPr txBox="1"/>
          <p:nvPr/>
        </p:nvSpPr>
        <p:spPr>
          <a:xfrm>
            <a:off x="301600" y="1555767"/>
            <a:ext cx="11223600" cy="17953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consulta SQL que está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outra consulta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que o resultado de uma consulta seja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como dado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consulta principal.</a:t>
            </a:r>
            <a:b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usada para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filtrar, calcular ou criar dados temporários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0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47" name="Google Shape;84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0"/>
          <p:cNvSpPr txBox="1"/>
          <p:nvPr/>
        </p:nvSpPr>
        <p:spPr>
          <a:xfrm>
            <a:off x="301600" y="1555767"/>
            <a:ext cx="11223600" cy="17953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consulta SQL que está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outra consulta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que o resultado de uma consulta seja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como dado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consulta principal.</a:t>
            </a:r>
            <a:b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usada para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filtrar, calcular ou criar dados temporários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9" name="Google Shape;84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00" y="3729690"/>
            <a:ext cx="4425554" cy="1388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1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Tipos de 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55" name="Google Shape;85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6" name="Google Shape;856;p71"/>
          <p:cNvGraphicFramePr/>
          <p:nvPr/>
        </p:nvGraphicFramePr>
        <p:xfrm>
          <a:off x="755000" y="2297947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A6D49D"/>
                    </a:gs>
                    <a:gs pos="50000">
                      <a:srgbClr val="99C991"/>
                    </a:gs>
                    <a:gs pos="100000">
                      <a:srgbClr val="88C57C"/>
                    </a:gs>
                  </a:gsLst>
                  <a:lin ang="5400000" scaled="0"/>
                </a:gradFill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Exemplo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/>
                        <a:t>Para que serve?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Subselect no WHERE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WHERE id IN (SELECT id FROM clientes)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Filtrar com base em outra tabela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Subselect no SELECT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SELECT nome, (SELECT COUNT(*) FROM pedidos WHERE ...)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Trazer um valor adicional para cada linha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Subselect no FROM (tabela)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FROM (SELECT ...) AS tabela_temp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Criar uma tabela temporária para consultas mais complexas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2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Tipos de 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62" name="Google Shape;86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600" y="2641600"/>
            <a:ext cx="8156028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2"/>
          <p:cNvSpPr txBox="1"/>
          <p:nvPr/>
        </p:nvSpPr>
        <p:spPr>
          <a:xfrm>
            <a:off x="1117600" y="1930400"/>
            <a:ext cx="2198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 no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3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Tipos de 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70" name="Google Shape;87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3"/>
          <p:cNvSpPr txBox="1"/>
          <p:nvPr/>
        </p:nvSpPr>
        <p:spPr>
          <a:xfrm>
            <a:off x="1117600" y="1930400"/>
            <a:ext cx="21788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 no Select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2" name="Google Shape;872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600" y="2654300"/>
            <a:ext cx="10053084" cy="15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Tipos de 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78" name="Google Shape;87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4"/>
          <p:cNvSpPr txBox="1"/>
          <p:nvPr/>
        </p:nvSpPr>
        <p:spPr>
          <a:xfrm>
            <a:off x="1117600" y="1930400"/>
            <a:ext cx="20662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 no From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0" name="Google Shape;88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600" y="2589769"/>
            <a:ext cx="9791700" cy="316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5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Tipos de SubSelects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86" name="Google Shape;88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5"/>
          <p:cNvSpPr txBox="1"/>
          <p:nvPr/>
        </p:nvSpPr>
        <p:spPr>
          <a:xfrm>
            <a:off x="1117600" y="1930400"/>
            <a:ext cx="20662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SubSelect no From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8" name="Google Shape;888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600" y="2589769"/>
            <a:ext cx="9791700" cy="316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6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Treinando...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894" name="Google Shape;89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5" name="Google Shape;895;p76"/>
          <p:cNvGraphicFramePr/>
          <p:nvPr/>
        </p:nvGraphicFramePr>
        <p:xfrm>
          <a:off x="921400" y="1656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cidade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Ana Souza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Rio Branco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João Pedro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Sena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Carlos Lima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Cruzeiro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896" name="Google Shape;896;p76"/>
          <p:cNvGraphicFramePr/>
          <p:nvPr/>
        </p:nvGraphicFramePr>
        <p:xfrm>
          <a:off x="787401" y="4146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id_cliente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total_pedido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897" name="Google Shape;897;p76"/>
          <p:cNvSpPr txBox="1"/>
          <p:nvPr/>
        </p:nvSpPr>
        <p:spPr>
          <a:xfrm>
            <a:off x="4609924" y="3651964"/>
            <a:ext cx="1569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Pedido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76"/>
          <p:cNvSpPr txBox="1"/>
          <p:nvPr/>
        </p:nvSpPr>
        <p:spPr>
          <a:xfrm>
            <a:off x="4838700" y="1278145"/>
            <a:ext cx="1600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7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Treinando...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04" name="Google Shape;90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5" name="Google Shape;905;p77"/>
          <p:cNvGraphicFramePr/>
          <p:nvPr/>
        </p:nvGraphicFramePr>
        <p:xfrm>
          <a:off x="921400" y="1656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cidade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Ana Souza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Rio Branco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João Pedro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Sena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Carlos Lima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Cruzeiro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06" name="Google Shape;906;p77"/>
          <p:cNvSpPr txBox="1"/>
          <p:nvPr/>
        </p:nvSpPr>
        <p:spPr>
          <a:xfrm>
            <a:off x="4609924" y="3244334"/>
            <a:ext cx="1569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Pedido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77"/>
          <p:cNvSpPr txBox="1"/>
          <p:nvPr/>
        </p:nvSpPr>
        <p:spPr>
          <a:xfrm>
            <a:off x="4838700" y="1278145"/>
            <a:ext cx="1600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8" name="Google Shape;908;p77"/>
          <p:cNvGraphicFramePr/>
          <p:nvPr/>
        </p:nvGraphicFramePr>
        <p:xfrm>
          <a:off x="787401" y="3613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id_cliente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total_pedido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09" name="Google Shape;909;p77"/>
          <p:cNvSpPr txBox="1"/>
          <p:nvPr/>
        </p:nvSpPr>
        <p:spPr>
          <a:xfrm>
            <a:off x="508000" y="544603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nome dos clientes que possuem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menos um pedido acima de 400 reais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78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Treinando...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15" name="Google Shape;91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6" name="Google Shape;916;p78"/>
          <p:cNvGraphicFramePr/>
          <p:nvPr/>
        </p:nvGraphicFramePr>
        <p:xfrm>
          <a:off x="921400" y="1656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cidade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Ana Souza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Rio Branco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João Pedro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Sena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Carlos Lima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Cruzeiro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17" name="Google Shape;917;p78"/>
          <p:cNvSpPr txBox="1"/>
          <p:nvPr/>
        </p:nvSpPr>
        <p:spPr>
          <a:xfrm>
            <a:off x="4609924" y="3244334"/>
            <a:ext cx="1569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Pedido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8"/>
          <p:cNvSpPr txBox="1"/>
          <p:nvPr/>
        </p:nvSpPr>
        <p:spPr>
          <a:xfrm>
            <a:off x="4838700" y="1278145"/>
            <a:ext cx="1600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9" name="Google Shape;919;p78"/>
          <p:cNvGraphicFramePr/>
          <p:nvPr/>
        </p:nvGraphicFramePr>
        <p:xfrm>
          <a:off x="796926" y="3613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id_cliente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total_pedido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200.00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20" name="Google Shape;920;p78"/>
          <p:cNvSpPr txBox="1"/>
          <p:nvPr/>
        </p:nvSpPr>
        <p:spPr>
          <a:xfrm>
            <a:off x="508000" y="544603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nome dos clientes que possuem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menos um pedido acima de 400 reais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8"/>
          <p:cNvSpPr txBox="1"/>
          <p:nvPr/>
        </p:nvSpPr>
        <p:spPr>
          <a:xfrm>
            <a:off x="6908800" y="5103673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 FROM 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id IN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SELECT id_cliente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FROM pedidos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WHERE total_pedido &gt; 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9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Explicando...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27" name="Google Shape;92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9"/>
          <p:cNvSpPr txBox="1"/>
          <p:nvPr/>
        </p:nvSpPr>
        <p:spPr>
          <a:xfrm>
            <a:off x="301600" y="1555767"/>
            <a:ext cx="11223600" cy="14593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subconsulta (SELECT id_cliente...) encontra os IDs dos clientes que têm pedidos acima de 400.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WHERE id IN (...) filtra a tabela clientes com esses IDs.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80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Quetão 2...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34" name="Google Shape;93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0"/>
          <p:cNvSpPr txBox="1"/>
          <p:nvPr/>
        </p:nvSpPr>
        <p:spPr>
          <a:xfrm>
            <a:off x="301600" y="1555767"/>
            <a:ext cx="11223600" cy="26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Questão 2 – Subselect no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alunos e notas (iguais do nosso banco IFAC).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Enunciado:</a:t>
            </a:r>
            <a:b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nome dos alunos e sua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média de notas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1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Questão 2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41" name="Google Shape;94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1"/>
          <p:cNvSpPr txBox="1"/>
          <p:nvPr/>
        </p:nvSpPr>
        <p:spPr>
          <a:xfrm>
            <a:off x="301600" y="1555767"/>
            <a:ext cx="11223600" cy="26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Questão 2 – Subselect no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alunos e notas (iguais do nosso banco IFAC).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Enunciado:</a:t>
            </a:r>
            <a:b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nome dos alunos e sua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média de notas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3" name="Google Shape;943;p81"/>
          <p:cNvGraphicFramePr/>
          <p:nvPr/>
        </p:nvGraphicFramePr>
        <p:xfrm>
          <a:off x="7778700" y="2495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539800"/>
                <a:gridCol w="1676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Ana Souza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Bruno Lima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Carlos Mendes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44" name="Google Shape;944;p81"/>
          <p:cNvGraphicFramePr/>
          <p:nvPr/>
        </p:nvGraphicFramePr>
        <p:xfrm>
          <a:off x="6096000" y="4380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1386050"/>
                <a:gridCol w="1386050"/>
                <a:gridCol w="1469700"/>
                <a:gridCol w="1302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id_aluno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id_disciplina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nota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8.5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7.0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6.8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9.2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45" name="Google Shape;945;p81"/>
          <p:cNvSpPr txBox="1"/>
          <p:nvPr/>
        </p:nvSpPr>
        <p:spPr>
          <a:xfrm>
            <a:off x="8138445" y="2146100"/>
            <a:ext cx="14593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81"/>
          <p:cNvSpPr txBox="1"/>
          <p:nvPr/>
        </p:nvSpPr>
        <p:spPr>
          <a:xfrm>
            <a:off x="8255000" y="4029872"/>
            <a:ext cx="1482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Notas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2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Questão 2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52" name="Google Shape;95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82"/>
          <p:cNvSpPr txBox="1"/>
          <p:nvPr/>
        </p:nvSpPr>
        <p:spPr>
          <a:xfrm>
            <a:off x="301600" y="1555767"/>
            <a:ext cx="11223600" cy="26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Questão 2 – Subselect no 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alunos e notas (iguais do nosso banco IFAC).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Enunciado:</a:t>
            </a:r>
            <a:b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nome dos alunos e sua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média de notas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4" name="Google Shape;954;p82"/>
          <p:cNvGraphicFramePr/>
          <p:nvPr/>
        </p:nvGraphicFramePr>
        <p:xfrm>
          <a:off x="7778700" y="2495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539800"/>
                <a:gridCol w="1676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Ana Souza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Bruno Lima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Carlos Mendes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55" name="Google Shape;955;p82"/>
          <p:cNvGraphicFramePr/>
          <p:nvPr/>
        </p:nvGraphicFramePr>
        <p:xfrm>
          <a:off x="6096000" y="4380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1386050"/>
                <a:gridCol w="1386050"/>
                <a:gridCol w="1469700"/>
                <a:gridCol w="1302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id_aluno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id_disciplina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nota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8.5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7.0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6.8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9.2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56" name="Google Shape;956;p82"/>
          <p:cNvSpPr txBox="1"/>
          <p:nvPr/>
        </p:nvSpPr>
        <p:spPr>
          <a:xfrm>
            <a:off x="8138445" y="2146100"/>
            <a:ext cx="14593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2"/>
          <p:cNvSpPr txBox="1"/>
          <p:nvPr/>
        </p:nvSpPr>
        <p:spPr>
          <a:xfrm>
            <a:off x="8255000" y="4029872"/>
            <a:ext cx="1482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Notas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2"/>
          <p:cNvSpPr txBox="1"/>
          <p:nvPr/>
        </p:nvSpPr>
        <p:spPr>
          <a:xfrm>
            <a:off x="177800" y="4510846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(SELECT AVG(nota) FROM notas WHERE notas.id_aluno = alunos.id) AS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alunos;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3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Questão 3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64" name="Google Shape;96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3"/>
          <p:cNvSpPr txBox="1"/>
          <p:nvPr/>
        </p:nvSpPr>
        <p:spPr>
          <a:xfrm>
            <a:off x="301600" y="1555767"/>
            <a:ext cx="11223600" cy="8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produtos e fornecedores: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83"/>
          <p:cNvSpPr txBox="1"/>
          <p:nvPr/>
        </p:nvSpPr>
        <p:spPr>
          <a:xfrm>
            <a:off x="6223000" y="909436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o nome do fornecedor e 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de produtos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ele fornece.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7" name="Google Shape;967;p83"/>
          <p:cNvGraphicFramePr/>
          <p:nvPr/>
        </p:nvGraphicFramePr>
        <p:xfrm>
          <a:off x="322200" y="4067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855700"/>
                <a:gridCol w="27210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InfoTech Ltda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MegaEletrônicos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TechBrasil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68" name="Google Shape;968;p83"/>
          <p:cNvGraphicFramePr/>
          <p:nvPr/>
        </p:nvGraphicFramePr>
        <p:xfrm>
          <a:off x="301600" y="24109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1324000"/>
                <a:gridCol w="1701800"/>
                <a:gridCol w="1612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Teclado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Mouse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Monitor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4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Questão 3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74" name="Google Shape;97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4"/>
          <p:cNvSpPr txBox="1"/>
          <p:nvPr/>
        </p:nvSpPr>
        <p:spPr>
          <a:xfrm>
            <a:off x="301600" y="1555767"/>
            <a:ext cx="11223600" cy="8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produtos e fornecedores: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84"/>
          <p:cNvSpPr txBox="1"/>
          <p:nvPr/>
        </p:nvSpPr>
        <p:spPr>
          <a:xfrm>
            <a:off x="6223000" y="909436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o nome do fornecedor e 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de produtos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ele fornece.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84"/>
          <p:cNvSpPr txBox="1"/>
          <p:nvPr/>
        </p:nvSpPr>
        <p:spPr>
          <a:xfrm>
            <a:off x="6096000" y="2490667"/>
            <a:ext cx="61595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nome_fornecedor, quantidade_produtos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fornecedores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SELECT id_fornecedor, COUNT(*) AS quantidade_produtos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FROM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GROUP BY id_fornecedor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AS contagem ON fornecedores.id = contagem.id_fornecedor;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8" name="Google Shape;978;p84"/>
          <p:cNvGraphicFramePr/>
          <p:nvPr/>
        </p:nvGraphicFramePr>
        <p:xfrm>
          <a:off x="322200" y="4067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855700"/>
                <a:gridCol w="27210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InfoTech Ltda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MegaEletrônicos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TechBrasil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79" name="Google Shape;979;p84"/>
          <p:cNvGraphicFramePr/>
          <p:nvPr/>
        </p:nvGraphicFramePr>
        <p:xfrm>
          <a:off x="301600" y="24109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1324000"/>
                <a:gridCol w="1701800"/>
                <a:gridCol w="1612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Teclado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Mouse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Monitor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5"/>
          <p:cNvSpPr txBox="1"/>
          <p:nvPr>
            <p:ph type="title"/>
          </p:nvPr>
        </p:nvSpPr>
        <p:spPr>
          <a:xfrm>
            <a:off x="755000" y="544200"/>
            <a:ext cx="1068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Krona One"/>
              <a:buNone/>
            </a:pPr>
            <a:r>
              <a:rPr lang="pt-BR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Questão 3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pic>
        <p:nvPicPr>
          <p:cNvPr id="985" name="Google Shape;98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3001" y="5733892"/>
            <a:ext cx="888999" cy="1124107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5"/>
          <p:cNvSpPr txBox="1"/>
          <p:nvPr/>
        </p:nvSpPr>
        <p:spPr>
          <a:xfrm>
            <a:off x="301600" y="1555767"/>
            <a:ext cx="11223600" cy="8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6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produtos e fornecedores: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85"/>
          <p:cNvSpPr txBox="1"/>
          <p:nvPr/>
        </p:nvSpPr>
        <p:spPr>
          <a:xfrm>
            <a:off x="6223000" y="909436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o nome do fornecedor e 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de produtos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ele fornece.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85"/>
          <p:cNvSpPr txBox="1"/>
          <p:nvPr/>
        </p:nvSpPr>
        <p:spPr>
          <a:xfrm>
            <a:off x="6096000" y="2490667"/>
            <a:ext cx="61595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nome_fornecedor, quantidade_produtos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fornecedores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JOIN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SELECT id_fornecedor, COUNT(*) AS quantidade_produtos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FROM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GROUP BY id_fornecedor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AS contagem ON fornecedores.id = contagem.id_fornecedor;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85"/>
          <p:cNvSpPr txBox="1"/>
          <p:nvPr/>
        </p:nvSpPr>
        <p:spPr>
          <a:xfrm>
            <a:off x="158700" y="5657670"/>
            <a:ext cx="61595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subconsulta (SELECT id_fornecedor, COUNT(*)...) calcula a quantidade de produtos por fornecedor.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JOIN, associamos o nome do fornecedor com o número de produtos.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0" name="Google Shape;990;p85"/>
          <p:cNvGraphicFramePr/>
          <p:nvPr/>
        </p:nvGraphicFramePr>
        <p:xfrm>
          <a:off x="322200" y="4067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855700"/>
                <a:gridCol w="27210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InfoTech Ltda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MegaEletrônicos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TechBrasil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91" name="Google Shape;991;p85"/>
          <p:cNvGraphicFramePr/>
          <p:nvPr/>
        </p:nvGraphicFramePr>
        <p:xfrm>
          <a:off x="301600" y="24109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1324000"/>
                <a:gridCol w="1701800"/>
                <a:gridCol w="1612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nome_produto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id_fornecedor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Teclado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Mouse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Monitor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992" name="Google Shape;992;p85"/>
          <p:cNvGraphicFramePr/>
          <p:nvPr/>
        </p:nvGraphicFramePr>
        <p:xfrm>
          <a:off x="6318200" y="5399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{CB715D71-7EE3-4594-A860-AA387547A82B}</a:tableStyleId>
              </a:tblPr>
              <a:tblGrid>
                <a:gridCol w="2730500"/>
                <a:gridCol w="24210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nome_fornecedor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quantidade_produtos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InfoTech Ltda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MegaEletrônicos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2024-08-13T18:33:14Z</dcterms:created>
  <dc:creator>José William Menezes</dc:creator>
</cp:coreProperties>
</file>